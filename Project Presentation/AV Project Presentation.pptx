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n-US" sz="1400" b="1" i="0" u="none" strike="noStrike">
                <a:solidFill>
                  <a:srgbClr val="1B2A4A"/>
                </a:solidFill>
                <a:latin typeface="Calibri"/>
              </a:rPr>
              <a:t>Position Error (m)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 Position Error (m)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238-42B6-BFC2-060231149400}"/>
              </c:ext>
            </c:extLst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38-42B6-BFC2-06023114940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EKF</c:v>
                </c:pt>
                <c:pt idx="1">
                  <c:v>Raw GPS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38-42B6-BFC2-0602311494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9525" cap="flat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n-US" sz="1400" b="1" i="0" u="none" strike="noStrike">
                <a:solidFill>
                  <a:srgbClr val="1B2A4A"/>
                </a:solidFill>
                <a:latin typeface="Calibri"/>
              </a:rPr>
              <a:t>Trials Won (of 24)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Monte Carlo Trials Won (of 24)</c:v>
                </c:pt>
              </c:strCache>
            </c:strRef>
          </c:tx>
          <c:spPr>
            <a:solidFill>
              <a:srgbClr val="C9962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58-4559-8DCF-B39E1914B3E3}"/>
              </c:ext>
            </c:extLst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58-4559-8DCF-B39E1914B3E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EKF More
Accurate</c:v>
                </c:pt>
                <c:pt idx="1">
                  <c:v>Raw GPS More
Accurate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D58-4559-8DCF-B39E1914B3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1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"/>
        </c:scaling>
        <c:delete val="0"/>
        <c:axPos val="l"/>
        <c:majorGridlines>
          <c:spPr>
            <a:ln w="9525" cap="flat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EKF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0.35–0.45</c:v>
                </c:pt>
                <c:pt idx="1">
                  <c:v>0.45–0.55</c:v>
                </c:pt>
                <c:pt idx="2">
                  <c:v>0.55–0.65</c:v>
                </c:pt>
                <c:pt idx="3">
                  <c:v>0.65–0.75</c:v>
                </c:pt>
                <c:pt idx="4">
                  <c:v>0.75–0.85</c:v>
                </c:pt>
                <c:pt idx="5">
                  <c:v>0.85–0.95</c:v>
                </c:pt>
                <c:pt idx="6">
                  <c:v>0.95–1.05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</c:v>
                </c:pt>
                <c:pt idx="1">
                  <c:v>13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1A-4B6B-895C-A6CBEBCB51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Raw GPS</c:v>
                </c:pt>
              </c:strCache>
            </c:strRef>
          </c:tx>
          <c:spPr>
            <a:solidFill>
              <a:srgbClr val="C9962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0.35–0.45</c:v>
                </c:pt>
                <c:pt idx="1">
                  <c:v>0.45–0.55</c:v>
                </c:pt>
                <c:pt idx="2">
                  <c:v>0.55–0.65</c:v>
                </c:pt>
                <c:pt idx="3">
                  <c:v>0.65–0.75</c:v>
                </c:pt>
                <c:pt idx="4">
                  <c:v>0.75–0.85</c:v>
                </c:pt>
                <c:pt idx="5">
                  <c:v>0.85–0.95</c:v>
                </c:pt>
                <c:pt idx="6">
                  <c:v>0.95–1.05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3</c:v>
                </c:pt>
                <c:pt idx="4">
                  <c:v>8</c:v>
                </c:pt>
                <c:pt idx="5">
                  <c:v>9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1A-4B6B-895C-A6CBEBCB51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5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150" b="0" i="0" u="none" strike="noStrike">
                    <a:solidFill>
                      <a:srgbClr val="6B7280"/>
                    </a:solidFill>
                    <a:latin typeface="Arial"/>
                  </a:rPr>
                  <a:t>RMS Position Error per Trial (m)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DE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5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150" b="0" i="0" u="none" strike="noStrike">
                    <a:solidFill>
                      <a:srgbClr val="6B7280"/>
                    </a:solidFill>
                    <a:latin typeface="Arial"/>
                  </a:rPr>
                  <a:t>Number of Trials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 Cross-Track Error (m)</c:v>
                </c:pt>
              </c:strCache>
            </c:strRef>
          </c:tx>
          <c:spPr>
            <a:ln w="31750" cap="flat">
              <a:solidFill>
                <a:srgbClr val="1B2A4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  <c:pt idx="4">
                  <c:v>700</c:v>
                </c:pt>
                <c:pt idx="5">
                  <c:v>1200</c:v>
                </c:pt>
                <c:pt idx="6">
                  <c:v>2000</c:v>
                </c:pt>
                <c:pt idx="7">
                  <c:v>3500</c:v>
                </c:pt>
                <c:pt idx="8">
                  <c:v>6000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1.8</c:v>
                </c:pt>
                <c:pt idx="1">
                  <c:v>1.35</c:v>
                </c:pt>
                <c:pt idx="2">
                  <c:v>1.02</c:v>
                </c:pt>
                <c:pt idx="3">
                  <c:v>0.78</c:v>
                </c:pt>
                <c:pt idx="4">
                  <c:v>0.62</c:v>
                </c:pt>
                <c:pt idx="5">
                  <c:v>0.52</c:v>
                </c:pt>
                <c:pt idx="6">
                  <c:v>0.46</c:v>
                </c:pt>
                <c:pt idx="7">
                  <c:v>0.42</c:v>
                </c:pt>
                <c:pt idx="8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0C-4162-9781-31D4CBB1B7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5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150" b="0" i="0" u="none" strike="noStrike">
                    <a:solidFill>
                      <a:srgbClr val="6B7280"/>
                    </a:solidFill>
                    <a:latin typeface="Arial"/>
                  </a:rPr>
                  <a:t>Steering-Effort Weight 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DE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5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150" b="0" i="0" u="none" strike="noStrike">
                    <a:solidFill>
                      <a:srgbClr val="6B7280"/>
                    </a:solidFill>
                    <a:latin typeface="Arial"/>
                  </a:rPr>
                  <a:t>RMS Cross-Track Error (m)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367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4754880" cy="475488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365760"/>
            <a:ext cx="3108960" cy="3108960"/>
          </a:xfrm>
          <a:prstGeom prst="ellipse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61320" y="502920"/>
            <a:ext cx="1371600" cy="1371600"/>
          </a:xfrm>
          <a:prstGeom prst="ellipse">
            <a:avLst/>
          </a:prstGeom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Vehicle State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&amp; Optimal Control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Nonlinear Bicycle Model, Extended Kalman Filter, and LQR Path-Tracking Framework — Implemented Entirely in Base MATLAB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5257800"/>
            <a:ext cx="2740729" cy="384048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5257800"/>
            <a:ext cx="27407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BICYCLE 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45401" y="5257800"/>
            <a:ext cx="2849468" cy="384048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5401" y="5257800"/>
            <a:ext cx="2849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KALMAN FILTER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59461" y="5257800"/>
            <a:ext cx="2305771" cy="384048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59461" y="5257800"/>
            <a:ext cx="23057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LQR PATH TRACKING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29824" y="5257800"/>
            <a:ext cx="2849468" cy="384048"/>
          </a:xfrm>
          <a:prstGeom prst="roundRect">
            <a:avLst>
              <a:gd name="adj" fmla="val 50000"/>
            </a:avLst>
          </a:prstGeom>
          <a:solidFill>
            <a:srgbClr val="EEF3F9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29824" y="5257800"/>
            <a:ext cx="2849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VALIDATION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384048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MATLAB  •  Zero Toolbox Dependencies  •  Fully Validated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417320"/>
          </a:xfrm>
          <a:prstGeom prst="roundRect">
            <a:avLst>
              <a:gd name="adj" fmla="val 5161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777240" y="194767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6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37360" y="19842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37360" y="244144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sensors alone can't drive a vehicle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394960" cy="1417320"/>
          </a:xfrm>
          <a:prstGeom prst="roundRect">
            <a:avLst>
              <a:gd name="adj" fmla="val 5161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6629400" y="194767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6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589520" y="19842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9520" y="244144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prove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394960" cy="1417320"/>
          </a:xfrm>
          <a:prstGeom prst="roundRect">
            <a:avLst>
              <a:gd name="adj" fmla="val 5161"/>
            </a:avLst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777240" y="350215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6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737360" y="35387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37360" y="399592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Physics, estimation, and control working together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3337560"/>
            <a:ext cx="5394960" cy="1417320"/>
          </a:xfrm>
          <a:prstGeom prst="roundRect">
            <a:avLst>
              <a:gd name="adj" fmla="val 5161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6629400" y="350215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6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589520" y="35387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89520" y="399592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the central claim was actually tested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394960" cy="1417320"/>
          </a:xfrm>
          <a:prstGeom prst="roundRect">
            <a:avLst>
              <a:gd name="adj" fmla="val 5161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777240" y="505663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6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737360" y="50932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737360" y="555040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shows, across many trials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400800" y="4892040"/>
            <a:ext cx="5394960" cy="1417320"/>
          </a:xfrm>
          <a:prstGeom prst="roundRect">
            <a:avLst>
              <a:gd name="adj" fmla="val 5161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25" name="Text 23"/>
          <p:cNvSpPr/>
          <p:nvPr/>
        </p:nvSpPr>
        <p:spPr>
          <a:xfrm>
            <a:off x="6629400" y="505663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6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589520" y="50932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89520" y="555040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goes from here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466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Sensors Are Noisy, Slow, and Never Enough on Their 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33400" y="1792224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vehicle never sees the world directly, only through imperfect sensors. A controller that trusts raw readings will track poorly and behave unpredictably and even a well-designed controller only ever has an estimate of where the vehicle is, never the ground truth.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434072" y="1691640"/>
            <a:ext cx="402336" cy="40233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7434072" y="168249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0010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Low-Rate GPS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0" y="20756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arrive at ~10 Hz with meter-scale noise too coarse to steer on directly.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34072" y="3108960"/>
            <a:ext cx="402336" cy="40233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7434072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0010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Control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0" y="34930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must be computed every 20 ms, using only what has been estimated so far.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34072" y="4526280"/>
            <a:ext cx="402336" cy="40233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7434072" y="4526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010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Disturbance Uncertainty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01000" y="49103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Crosswind, road surface, and imperfect actuators mean reality never quite matches the model.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6400800" cy="2286000"/>
          </a:xfrm>
          <a:prstGeom prst="roundRect">
            <a:avLst>
              <a:gd name="adj" fmla="val 3200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069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deeper problem is epistemic, not mechanical: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5760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instant, the vehicle has only a belief about where it is built from asynchronous, differently-trusted sensor streams never certain knowledge. That belief has to be good enough, updated fast enough, to close a real-time control loop.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Goals, Each Independently Verifiable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scoped so every objective could be checked on its own, not taken on faith.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21408" cy="3977640"/>
          </a:xfrm>
          <a:prstGeom prst="roundRect">
            <a:avLst>
              <a:gd name="adj" fmla="val 3448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4048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06324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Reality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9808" y="3657600"/>
            <a:ext cx="17190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vehicle dynamics, nonlinear tires, and a physical disturbance not an idealized plant.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34640" y="2148840"/>
            <a:ext cx="2121408" cy="3977640"/>
          </a:xfrm>
          <a:prstGeom prst="roundRect">
            <a:avLst>
              <a:gd name="adj" fmla="val 3448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35808" y="24048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35808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35808" y="306324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Sensors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035808" y="3657600"/>
            <a:ext cx="17190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noisy, multi-rate GPS and IMU streams into one trustworthy state estimate.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20640" y="2148840"/>
            <a:ext cx="2121408" cy="3977640"/>
          </a:xfrm>
          <a:prstGeom prst="roundRect">
            <a:avLst>
              <a:gd name="adj" fmla="val 3448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21808" y="24048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21808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21808" y="306324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Optimally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21808" y="3657600"/>
            <a:ext cx="17190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path using only the estimate, via a hand-derived LQR controller, never the ground truth.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06640" y="2148840"/>
            <a:ext cx="2121408" cy="3977640"/>
          </a:xfrm>
          <a:prstGeom prst="roundRect">
            <a:avLst>
              <a:gd name="adj" fmla="val 3448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07808" y="24048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07808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07808" y="306324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Benefit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607808" y="3657600"/>
            <a:ext cx="17190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not assume how much fusion actually improves tracking accuracy.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692640" y="2148840"/>
            <a:ext cx="2121408" cy="3977640"/>
          </a:xfrm>
          <a:prstGeom prst="roundRect">
            <a:avLst>
              <a:gd name="adj" fmla="val 3448"/>
            </a:avLst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893808" y="24048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93808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893808" y="306324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Toolbox-Free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893808" y="3657600"/>
            <a:ext cx="17190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everything, including reports and video, in base MATLAB, zero dependencies.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Closed Sense, Estimate, Control, Act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2331720" cy="1828800"/>
          </a:xfrm>
          <a:prstGeom prst="roundRect">
            <a:avLst>
              <a:gd name="adj" fmla="val 350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86968" y="2304288"/>
            <a:ext cx="1929384" cy="54864"/>
          </a:xfrm>
          <a:prstGeom prst="roundRect">
            <a:avLst/>
          </a:prstGeom>
          <a:solidFill>
            <a:srgbClr val="5B7A9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10 Hz + IMU 50 Hz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054096" y="3017520"/>
            <a:ext cx="429768" cy="0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3520440" y="2103120"/>
            <a:ext cx="2331720" cy="1828800"/>
          </a:xfrm>
          <a:prstGeom prst="roundRect">
            <a:avLst>
              <a:gd name="adj" fmla="val 350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3721608" y="2304288"/>
            <a:ext cx="1929384" cy="54864"/>
          </a:xfrm>
          <a:prstGeom prst="round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3657600" y="2606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Kalman</a:t>
            </a:r>
            <a:endParaRPr lang="en-US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57600" y="3383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estimate</a:t>
            </a:r>
            <a:endParaRPr 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88736" y="3017520"/>
            <a:ext cx="429768" cy="0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6355080" y="2103120"/>
            <a:ext cx="2331720" cy="1828800"/>
          </a:xfrm>
          <a:prstGeom prst="roundRect">
            <a:avLst>
              <a:gd name="adj" fmla="val 3500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6556248" y="2304288"/>
            <a:ext cx="1929384" cy="54864"/>
          </a:xfrm>
          <a:prstGeom prst="roundRect">
            <a:avLst/>
          </a:prstGeom>
          <a:solidFill>
            <a:srgbClr val="C996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492240" y="2606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LQR Controller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92240" y="3383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Feedback + feedforward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23376" y="3017520"/>
            <a:ext cx="429768" cy="0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9189720" y="2103120"/>
            <a:ext cx="2331720" cy="1828800"/>
          </a:xfrm>
          <a:prstGeom prst="roundRect">
            <a:avLst>
              <a:gd name="adj" fmla="val 350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9390888" y="2304288"/>
            <a:ext cx="1929384" cy="54864"/>
          </a:xfrm>
          <a:prstGeom prst="roundRect">
            <a:avLst/>
          </a:prstGeom>
          <a:solidFill>
            <a:srgbClr val="9C3B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9326880" y="2606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Dynamics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26880" y="3383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Nonlinear bicycle model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355580" y="3931920"/>
            <a:ext cx="0" cy="50292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4686300" y="4434840"/>
            <a:ext cx="56692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4686300" y="3931920"/>
            <a:ext cx="0" cy="50292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85800" y="457200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feeds back into the filter every step — the loop runs closed, in real time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Bicycle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39" y="1691640"/>
            <a:ext cx="62544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 is represented as a two-wheel “bicycle” one effective front tire, one effective rear tracking lateral velocity, yaw rate, heading, and position. Tire forces come from a slip-angle model, switchable between a fast linear approximation and the nonlinear Pacejka curve that captures grip saturation at the limit.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5394960" cy="566928"/>
          </a:xfrm>
          <a:prstGeom prst="roundRect">
            <a:avLst>
              <a:gd name="adj" fmla="val 967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14600" y="3977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y, vy, r, psi, X, Y.  6 states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654296"/>
            <a:ext cx="5394960" cy="566928"/>
          </a:xfrm>
          <a:prstGeom prst="roundRect">
            <a:avLst>
              <a:gd name="adj" fmla="val 967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77240" y="46542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 Model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14600" y="46542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(default) or Pacejka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330952"/>
            <a:ext cx="5394960" cy="566928"/>
          </a:xfrm>
          <a:prstGeom prst="roundRect">
            <a:avLst>
              <a:gd name="adj" fmla="val 9677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77240" y="53309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14600" y="53309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RK4, fixed 20 ms timestep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6007608"/>
            <a:ext cx="5394960" cy="566928"/>
          </a:xfrm>
          <a:prstGeom prst="roundRect">
            <a:avLst>
              <a:gd name="adj" fmla="val 9677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777240" y="60076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14600" y="60076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+ longitudinal noise, every step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0" y="3246120"/>
            <a:ext cx="2834640" cy="1508760"/>
          </a:xfrm>
          <a:prstGeom prst="roundRect">
            <a:avLst>
              <a:gd name="adj" fmla="val 4242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863840" y="341071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Bicycle</a:t>
            </a:r>
            <a:endParaRPr lang="en-US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63840" y="4297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 · 20 ms step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1828800"/>
            <a:ext cx="2560320" cy="457200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800100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+ Accel Cmd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81160" y="2286000"/>
            <a:ext cx="0" cy="9601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8001000" y="2395728"/>
            <a:ext cx="2560320" cy="457200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8001000" y="2395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Low-Grip Zones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281160" y="2852928"/>
            <a:ext cx="0" cy="393192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8001000" y="2962656"/>
            <a:ext cx="2560320" cy="457200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8001000" y="29626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flipV="1">
            <a:off x="9281160" y="3246120"/>
            <a:ext cx="0" cy="173736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8001000" y="5074920"/>
            <a:ext cx="2560320" cy="457200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8001000" y="5074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y, vy, r, psi, X, 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281160" y="4754880"/>
            <a:ext cx="0" cy="3200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54864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Kalman Filter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asynchronous, differently-trusted sensor streams are fused every step: IMU yaw-rate and acceleration at 50 Hz, GPS position at roughly 10 Hz. The covariance update naturally down-weights whichever source is currently less certain.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914400" y="2606040"/>
            <a:ext cx="3246120" cy="2286000"/>
          </a:xfrm>
          <a:prstGeom prst="roundRect">
            <a:avLst>
              <a:gd name="adj" fmla="val 3200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5661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state forward,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uncertainty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15384" y="3749040"/>
            <a:ext cx="484632" cy="0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4754880" y="2606040"/>
            <a:ext cx="3246120" cy="2286000"/>
          </a:xfrm>
          <a:prstGeom prst="roundRect">
            <a:avLst>
              <a:gd name="adj" fmla="val 320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93776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· IMU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83480" y="35661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heading rate and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at 50 Hz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55864" y="3749040"/>
            <a:ext cx="484632" cy="0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8595360" y="2606040"/>
            <a:ext cx="3246120" cy="2286000"/>
          </a:xfrm>
          <a:prstGeom prst="roundRect">
            <a:avLst>
              <a:gd name="adj" fmla="val 3200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877824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· GPS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823960" y="35661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position whenever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 arrives (~10 Hz)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218420" y="4892040"/>
            <a:ext cx="0" cy="45720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2537460" y="5349240"/>
            <a:ext cx="768096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2537460" y="4892040"/>
            <a:ext cx="0" cy="45720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914400" y="545896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timestep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LQR Path Tracking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tracking-error dynamics are linearized around the current estimated speed, and a discrete-time Riccati equation is solved for the steering gain that minimizes a weighted combination of tracking error and steering effort. A curvature feedforward term is added on top, so the controller doesn't rely on feedback alone to take a known corner.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2240280" cy="45720"/>
          </a:xfrm>
          <a:prstGeom prst="round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Weight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tracking error, larger Q tracks tighter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30632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25400">
            <a:solidFill>
              <a:srgbClr val="C9962C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3566160" y="3246120"/>
            <a:ext cx="2240280" cy="45720"/>
          </a:xfrm>
          <a:prstGeom prst="roundRect">
            <a:avLst/>
          </a:prstGeom>
          <a:solidFill>
            <a:srgbClr val="C9962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356616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Weight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66160" y="39319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steering effort, larger R drives gentler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0632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25400">
            <a:solidFill>
              <a:srgbClr val="5B7A99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6400800" y="3246120"/>
            <a:ext cx="2240280" cy="45720"/>
          </a:xfrm>
          <a:prstGeom prst="roundRect">
            <a:avLst/>
          </a:prstGeom>
          <a:solidFill>
            <a:srgbClr val="5B7A9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40080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Caching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00800" y="39319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Riccati re-solved only when speed drifts, not every step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52560" y="3063240"/>
            <a:ext cx="26060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25400">
            <a:solidFill>
              <a:srgbClr val="4F7858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9235440" y="3246120"/>
            <a:ext cx="2240280" cy="45720"/>
          </a:xfrm>
          <a:prstGeom prst="roundRect">
            <a:avLst/>
          </a:prstGeom>
          <a:solidFill>
            <a:srgbClr val="4F785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923544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235440" y="39319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 term anticipates corners instead of reacting late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THIS APART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Highlights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103120"/>
          </a:xfrm>
          <a:prstGeom prst="roundRect">
            <a:avLst>
              <a:gd name="adj" fmla="val 3478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804672" y="2039112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7A9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80467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4672" y="26791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Tire Models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108960"/>
            <a:ext cx="3008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Linear and nonlinear Pacejka, selectable, for behavior near the friction limit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2103120"/>
          </a:xfrm>
          <a:prstGeom prst="roundRect">
            <a:avLst>
              <a:gd name="adj" fmla="val 3478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4553712" y="2039112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455371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53712" y="26791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UKF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3108960"/>
            <a:ext cx="3008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Unscented Kalman Filter cross-checks the EKF's accuracy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2103120"/>
          </a:xfrm>
          <a:prstGeom prst="roundRect">
            <a:avLst>
              <a:gd name="adj" fmla="val 3478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15" name="Shape 13"/>
          <p:cNvSpPr/>
          <p:nvPr/>
        </p:nvSpPr>
        <p:spPr>
          <a:xfrm>
            <a:off x="8302752" y="2039112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830275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02752" y="26791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Alternative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02752" y="3108960"/>
            <a:ext cx="3008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finite-horizon linear MPC controller, selectable in place of LQR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20440" cy="2103120"/>
          </a:xfrm>
          <a:prstGeom prst="roundRect">
            <a:avLst>
              <a:gd name="adj" fmla="val 3478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20" name="Shape 18"/>
          <p:cNvSpPr/>
          <p:nvPr/>
        </p:nvSpPr>
        <p:spPr>
          <a:xfrm>
            <a:off x="804672" y="4370832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C3B3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80467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4672" y="501091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Vehicle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" y="5440680"/>
            <a:ext cx="3008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independently-driven car with live collision-risk prediction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97680" y="4114800"/>
            <a:ext cx="3520440" cy="2103120"/>
          </a:xfrm>
          <a:prstGeom prst="roundRect">
            <a:avLst>
              <a:gd name="adj" fmla="val 3478"/>
            </a:avLst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25" name="Shape 23"/>
          <p:cNvSpPr/>
          <p:nvPr/>
        </p:nvSpPr>
        <p:spPr>
          <a:xfrm>
            <a:off x="4553712" y="4370832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F785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6" name="Text 24"/>
          <p:cNvSpPr/>
          <p:nvPr/>
        </p:nvSpPr>
        <p:spPr>
          <a:xfrm>
            <a:off x="455371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F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53712" y="501091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Validation Suite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53712" y="5440680"/>
            <a:ext cx="3008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No-EKF baseline, Monte Carlo trials, and an LQR sensitivity sweep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46720" y="4114800"/>
            <a:ext cx="3520440" cy="2103120"/>
          </a:xfrm>
          <a:prstGeom prst="roundRect">
            <a:avLst>
              <a:gd name="adj" fmla="val 3478"/>
            </a:avLst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 sz="2000"/>
          </a:p>
        </p:txBody>
      </p:sp>
      <p:sp>
        <p:nvSpPr>
          <p:cNvPr id="30" name="Shape 28"/>
          <p:cNvSpPr/>
          <p:nvPr/>
        </p:nvSpPr>
        <p:spPr>
          <a:xfrm>
            <a:off x="8302752" y="4370832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7A9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1" name="Text 29"/>
          <p:cNvSpPr/>
          <p:nvPr/>
        </p:nvSpPr>
        <p:spPr>
          <a:xfrm>
            <a:off x="830275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302752" y="501091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Toolboxes</a:t>
            </a:r>
            <a:endParaRPr lang="en-US" sz="1600" dirty="0">
              <a:solidFill>
                <a:schemeClr val="bg2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02752" y="5440680"/>
            <a:ext cx="3008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Self-tuning animation, video export, and PDF/PPTX reports , all base MATLAB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IT, NOT ASSUMING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single favorable run proves very little. Four independent checks close that gap, and none of them can fail silently and take the others down with it.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00B0F0"/>
          </a:solidFill>
          <a:ln w="25400">
            <a:solidFill>
              <a:srgbClr val="00B0F0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No-EKF Baseline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controller, re-run headlessly on raw GPS alone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237744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C000"/>
          </a:solidFill>
          <a:ln w="25400">
            <a:solidFill>
              <a:srgbClr val="FFC000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3520440" y="26060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Trials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20440" y="32461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 randomized sensor-noise seeds per controller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377440"/>
            <a:ext cx="2514600" cy="1920240"/>
          </a:xfrm>
          <a:prstGeom prst="roundRect">
            <a:avLst>
              <a:gd name="adj" fmla="val 3810"/>
            </a:avLst>
          </a:prstGeom>
          <a:solidFill>
            <a:schemeClr val="accent2"/>
          </a:solidFill>
          <a:ln w="2540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6309360" y="26060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LQR Sensitivity Sweep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09360" y="32461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Steering-effort weight swept across a wide range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15400" y="2377440"/>
            <a:ext cx="251460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254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9098280" y="26060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Disturbance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98280" y="32461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disturbance applied every run, every lap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05940" y="4297680"/>
            <a:ext cx="0" cy="246888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Shape 16"/>
          <p:cNvSpPr/>
          <p:nvPr/>
        </p:nvSpPr>
        <p:spPr>
          <a:xfrm>
            <a:off x="4594860" y="4297680"/>
            <a:ext cx="0" cy="246888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Shape 17"/>
          <p:cNvSpPr/>
          <p:nvPr/>
        </p:nvSpPr>
        <p:spPr>
          <a:xfrm>
            <a:off x="7383780" y="4297680"/>
            <a:ext cx="0" cy="246888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" name="Shape 18"/>
          <p:cNvSpPr/>
          <p:nvPr/>
        </p:nvSpPr>
        <p:spPr>
          <a:xfrm>
            <a:off x="10172700" y="4297680"/>
            <a:ext cx="0" cy="246888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Shape 19"/>
          <p:cNvSpPr/>
          <p:nvPr/>
        </p:nvSpPr>
        <p:spPr>
          <a:xfrm>
            <a:off x="1805940" y="4544568"/>
            <a:ext cx="8366760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Shape 20"/>
          <p:cNvSpPr/>
          <p:nvPr/>
        </p:nvSpPr>
        <p:spPr>
          <a:xfrm>
            <a:off x="6095848" y="4544568"/>
            <a:ext cx="0" cy="256032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" name="Shape 21"/>
          <p:cNvSpPr/>
          <p:nvPr/>
        </p:nvSpPr>
        <p:spPr>
          <a:xfrm>
            <a:off x="4541368" y="480060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2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4541368" y="4800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Report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EKF vs. Raw GPS: Accuracy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below are representative of a typical run; sensor noise and the physical disturbance are randomized every time, so exact numbers vary while the pattern holds.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0312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126480" y="2103120"/>
          <a:ext cx="53949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Validation: 24 Trials per Controller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EKF's distribution sits tighter and lower than the raw-GPS distribution across every sampled sensor-noise seed — this is a consistent pattern, not one lucky run.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48840"/>
          <a:ext cx="11064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LQR Weight Sensitivity: Accuracy vs. Effort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Sweeping the steering-effort weight R reproduces the textbook trade-off curve — confirming the controller's gains came from a principled sweep, not a guess.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48840"/>
          <a:ext cx="11064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18872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 — Aggressive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4000" y="5440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 — Gentle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777240" y="197510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7724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85623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wins decisively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09160" y="1856232"/>
            <a:ext cx="6720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EKF-driven controller outperformed raw GPS in 24 of 24 matched Monte Carlo trials — not just on average.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841248"/>
          </a:xfrm>
          <a:prstGeom prst="roundRect">
            <a:avLst>
              <a:gd name="adj" fmla="val 76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777240" y="288950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777240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77063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rate effect, not a bias effect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09160" y="2770632"/>
            <a:ext cx="6720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alone isn't badly biased, it's too slow and sparse to control from directly; 50 Hz effective rate closes the gap.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841248"/>
          </a:xfrm>
          <a:prstGeom prst="roundRect">
            <a:avLst>
              <a:gd name="adj" fmla="val 7609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777240" y="380390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7724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68503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and control are coupled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09160" y="3685032"/>
            <a:ext cx="6720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LQR gain schedule depends on estimated speed, so a noisier estimate degrades control beyond position error alone.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64240" cy="841248"/>
          </a:xfrm>
          <a:prstGeom prst="roundRect">
            <a:avLst>
              <a:gd name="adj" fmla="val 7609"/>
            </a:avLst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777240" y="471830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777240" y="4718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59943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is not proof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09160" y="4599432"/>
            <a:ext cx="6720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Monte Carlo suite exists because a single comparison is one sample from a random process — it could favor either side by chance.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841248"/>
          </a:xfrm>
          <a:prstGeom prst="roundRect">
            <a:avLst>
              <a:gd name="adj" fmla="val 7609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777240" y="563270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777240" y="5632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551383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tooling required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09160" y="5513832"/>
            <a:ext cx="6720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pipeline — filter, controller, and report writers — runs in base MATLAB.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chemeClr val="accent2">
              <a:lumMod val="50000"/>
            </a:schemeClr>
          </a:solidFill>
          <a:ln w="28575">
            <a:solidFill>
              <a:schemeClr val="accent2">
                <a:lumMod val="50000"/>
              </a:schemeClr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21792" y="2542032"/>
            <a:ext cx="1545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258568" y="2628900"/>
            <a:ext cx="109728" cy="0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2386584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chemeClr val="accent2">
              <a:lumMod val="75000"/>
            </a:schemeClr>
          </a:solidFill>
          <a:ln w="28575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2386584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459736" y="2542032"/>
            <a:ext cx="1545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096512" y="2628900"/>
            <a:ext cx="109728" cy="0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4224528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224528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97680" y="2542032"/>
            <a:ext cx="1545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34456" y="2628900"/>
            <a:ext cx="109728" cy="0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6062472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606247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35624" y="2542032"/>
            <a:ext cx="1545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772400" y="2628900"/>
            <a:ext cx="109728" cy="0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7900416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20000"/>
                <a:lumOff val="80000"/>
              </a:schemeClr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7900416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973568" y="2542032"/>
            <a:ext cx="1545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610344" y="2628900"/>
            <a:ext cx="109728" cy="0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9738360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2225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9738360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811512" y="2542032"/>
            <a:ext cx="1545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3520440"/>
            <a:ext cx="9043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F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38360" y="3520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4F785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548640" y="4096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7824" y="4041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vehicle physics with linear and Pacejka tire options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26480" y="41148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4F785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6126480" y="4096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5664" y="4041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sensor fusion with parallel UKF comparison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68172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4F785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548640" y="4663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7824" y="46085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LQR path tracking with curvature feedforward, MPC alternative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26480" y="468172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4F785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6126480" y="4663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55664" y="46085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animated dashboard with adaptive real-time pacing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524865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4F785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/>
          <p:nvPr/>
        </p:nvSpPr>
        <p:spPr>
          <a:xfrm>
            <a:off x="548640" y="5230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77824" y="51755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video, PDF, PPTX, and JSON export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126480" y="524865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4F785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5" name="Text 43"/>
          <p:cNvSpPr/>
          <p:nvPr/>
        </p:nvSpPr>
        <p:spPr>
          <a:xfrm>
            <a:off x="6126480" y="5230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55664" y="51755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No-EKF baseline, Monte Carlo trials, LQR sensitivity sweep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Base MATLAB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this pipeline — the RK4 integrator, the EKF's Jacobians, the discrete Riccati solve, the video encoder handoff, and even the PDF/PPTX file writers — is implemented from first principles. Nothing depends on a paid toolbox.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1600" dirty="0">
              <a:solidFill>
                <a:srgbClr val="CC33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120640" cy="502920"/>
          </a:xfrm>
          <a:prstGeom prst="roundRect">
            <a:avLst>
              <a:gd name="adj" fmla="val 10909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trike="sngStrike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Control System Toolbox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22192"/>
            <a:ext cx="5120640" cy="502920"/>
          </a:xfrm>
          <a:prstGeom prst="roundRect">
            <a:avLst>
              <a:gd name="adj" fmla="val 10909"/>
            </a:avLst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77240" y="38221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trike="sngStrike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Toolbox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443984"/>
            <a:ext cx="5120640" cy="502920"/>
          </a:xfrm>
          <a:prstGeom prst="roundRect">
            <a:avLst>
              <a:gd name="adj" fmla="val 10909"/>
            </a:avLst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777240" y="44439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trike="sngStrike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Robotics System Toolbox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065776"/>
            <a:ext cx="5120640" cy="502920"/>
          </a:xfrm>
          <a:prstGeom prst="roundRect">
            <a:avLst>
              <a:gd name="adj" fmla="val 10909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777240" y="50657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strike="sngStrike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Generator Toolbox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788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4F7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3200400"/>
            <a:ext cx="5303520" cy="502920"/>
          </a:xfrm>
          <a:prstGeom prst="roundRect">
            <a:avLst>
              <a:gd name="adj" fmla="val 10909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537960" y="3200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Dynamics &amp; RK4 Integration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3822192"/>
            <a:ext cx="5303520" cy="502920"/>
          </a:xfrm>
          <a:prstGeom prst="roundRect">
            <a:avLst>
              <a:gd name="adj" fmla="val 10909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537960" y="38221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/ UKF Sensor Fusion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4443984"/>
            <a:ext cx="5303520" cy="502920"/>
          </a:xfrm>
          <a:prstGeom prst="roundRect">
            <a:avLst>
              <a:gd name="adj" fmla="val 10909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6537960" y="444398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LQR &amp; MPC Control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5065776"/>
            <a:ext cx="5303520" cy="502920"/>
          </a:xfrm>
          <a:prstGeom prst="roundRect">
            <a:avLst>
              <a:gd name="adj" fmla="val 10909"/>
            </a:avLst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537960" y="506577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Dashboard &amp; Video Export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5687568"/>
            <a:ext cx="5303520" cy="502920"/>
          </a:xfrm>
          <a:prstGeom prst="roundRect">
            <a:avLst>
              <a:gd name="adj" fmla="val 10909"/>
            </a:avLst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537960" y="56875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PPTX / JSON Report Generation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206240"/>
            <a:ext cx="4754880" cy="475488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" name="Shape 1"/>
          <p:cNvSpPr/>
          <p:nvPr/>
        </p:nvSpPr>
        <p:spPr>
          <a:xfrm>
            <a:off x="9692640" y="5029200"/>
            <a:ext cx="3108960" cy="3108960"/>
          </a:xfrm>
          <a:prstGeom prst="ellipse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10561320" y="5897880"/>
            <a:ext cx="1371600" cy="1371600"/>
          </a:xfrm>
          <a:prstGeom prst="ellipse">
            <a:avLst/>
          </a:prstGeom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State Estimation &amp; Optimal Control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3840480" cy="0"/>
          </a:xfrm>
          <a:prstGeom prst="line">
            <a:avLst/>
          </a:prstGeom>
          <a:noFill/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Bicycle Model  •  Extended Kalman Filter  •  LQR Path Tracking  •  Fully Validated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1584</Words>
  <Application>Microsoft Office PowerPoint</Application>
  <PresentationFormat>Widescreen</PresentationFormat>
  <Paragraphs>280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Frais Asghar</cp:lastModifiedBy>
  <cp:revision>8</cp:revision>
  <dcterms:created xsi:type="dcterms:W3CDTF">2026-08-02T17:38:43Z</dcterms:created>
  <dcterms:modified xsi:type="dcterms:W3CDTF">2026-08-05T06:59:39Z</dcterms:modified>
</cp:coreProperties>
</file>